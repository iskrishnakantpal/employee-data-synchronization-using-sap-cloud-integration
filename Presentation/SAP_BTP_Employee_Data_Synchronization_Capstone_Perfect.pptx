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8FE94-FA80-4155-93D6-73D7CCB01D8E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D5895-A112-4B41-A85F-4E0DA86CC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5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D5895-A112-4B41-A85F-4E0DA86CC3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1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krishnakantpal/Employee-Data-Synchronization-using-SAP-Cloud-Integra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914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41715"/>
            <a:ext cx="484632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BTP INTEGRATION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283465"/>
            <a:ext cx="2057400" cy="384048"/>
          </a:xfrm>
          <a:prstGeom prst="roundRect">
            <a:avLst/>
          </a:prstGeom>
          <a:solidFill>
            <a:srgbClr val="239796"/>
          </a:solidFill>
          <a:ln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87384" y="384048"/>
            <a:ext cx="194767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6132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400" b="1">
                <a:solidFill>
                  <a:srgbClr val="0C2B4A"/>
                </a:solidFill>
                <a:latin typeface="Aptos"/>
              </a:defRPr>
            </a:pPr>
            <a:r>
              <a:t>EMPLOYEE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6132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400" b="1">
                <a:solidFill>
                  <a:srgbClr val="1F70A9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4183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232B34"/>
                </a:solidFill>
                <a:latin typeface="Aptos"/>
              </a:defRPr>
            </a:pPr>
            <a:r>
              <a:t>SAP SuccessFactors  →  SAP S/4HANA  →  SFTP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94760"/>
            <a:ext cx="205740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4050792"/>
            <a:ext cx="1911095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SuccessFactors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794760"/>
            <a:ext cx="224028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4050792"/>
            <a:ext cx="209397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Cloud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94760"/>
            <a:ext cx="169164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4050792"/>
            <a:ext cx="154533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S/4HANA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794760"/>
            <a:ext cx="1508760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39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4050792"/>
            <a:ext cx="1362456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4215384"/>
            <a:ext cx="68580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4215384"/>
            <a:ext cx="59436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4215384"/>
            <a:ext cx="777240" cy="0"/>
          </a:xfrm>
          <a:prstGeom prst="line">
            <a:avLst/>
          </a:prstGeom>
          <a:ln w="25400">
            <a:solidFill>
              <a:srgbClr val="1F7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0" y="5074920"/>
            <a:ext cx="41605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0C2B4A"/>
                </a:solidFill>
                <a:latin typeface="Aptos"/>
              </a:defRPr>
            </a:pPr>
            <a:r>
              <a:t>Krishnakant 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68112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5C6975"/>
                </a:solidFill>
                <a:latin typeface="Aptos"/>
              </a:defRPr>
            </a:pPr>
            <a:r>
              <a:t>PID: P2012786192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989320"/>
            <a:ext cx="772667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C6975"/>
                </a:solidFill>
                <a:latin typeface="Aptos"/>
              </a:defRPr>
            </a:pPr>
            <a:r>
              <a:t>Technical Design + Test Evidence + Agile Project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Project Overview &amp; Business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What the solution is designed to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349240" cy="15087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71016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5029200" cy="941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Automate employee master-data synchronization from SAP SuccessFactors to SAP S/4HANA. The processed XML response is also converted to CSV and uploaded to an SFTP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440680" cy="15087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271016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NOTIFICATIONS &amp;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120640" cy="941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B34"/>
                </a:solidFill>
                <a:latin typeface="Aptos"/>
              </a:defRPr>
            </a:pPr>
            <a:r>
              <a:t>Success processing sends a confirmation email. Runtime errors trigger an Exception Subprocess, which prepares and sends a failure notification.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0C2B4A"/>
                </a:solidFill>
                <a:latin typeface="Aptos"/>
              </a:defRPr>
            </a:pPr>
            <a:r>
              <a:t>SYSTEM LANDSCAPE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SuccessFactors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Source employee master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44952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Cloud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iFlow orchestration &amp;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9783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12664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S/4HANA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Target OData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97496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0375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5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CSV storage / transfer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5208" y="3401568"/>
            <a:ext cx="2057400" cy="132588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48088" y="3529584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3886200"/>
            <a:ext cx="173736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Success &amp; failure notification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074920"/>
            <a:ext cx="2011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0C2B4A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6811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t>• Removes manual employee-data transfer.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t>• Provides a repeatable scheduled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t>• Creates an auditable CSV output.</a:t>
            </a:r>
          </a:p>
          <a:p>
            <a:pPr>
              <a:spcAft>
                <a:spcPts val="600"/>
              </a:spcAft>
              <a:defRPr sz="1250">
                <a:solidFill>
                  <a:srgbClr val="232B34"/>
                </a:solidFill>
                <a:latin typeface="Aptos"/>
              </a:defRPr>
            </a:pPr>
            <a:r>
              <a:t>• Verifies both positive and negative scenarios.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rPr sz="1200" dirty="0"/>
              <a:t>End-to-end processing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4980" y="1020741"/>
            <a:ext cx="5989320" cy="38862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806440" y="1505823"/>
            <a:ext cx="56692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FLOW IN ONE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880727"/>
            <a:ext cx="5669280" cy="33192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rPr dirty="0"/>
              <a:t>1  Timer starts the </a:t>
            </a:r>
            <a:r>
              <a:rPr dirty="0" err="1"/>
              <a:t>iFlow</a:t>
            </a:r>
            <a:br>
              <a:rPr dirty="0"/>
            </a:br>
            <a:r>
              <a:rPr dirty="0"/>
              <a:t>2  Employee data is queried from SuccessFactors</a:t>
            </a:r>
            <a:br>
              <a:rPr dirty="0"/>
            </a:br>
            <a:r>
              <a:rPr dirty="0"/>
              <a:t>3  Message Mapping creates the S/4HANA structure</a:t>
            </a:r>
            <a:br>
              <a:rPr dirty="0"/>
            </a:br>
            <a:r>
              <a:rPr dirty="0"/>
              <a:t>4  OData Request Reply sends the request</a:t>
            </a:r>
            <a:br>
              <a:rPr dirty="0"/>
            </a:br>
            <a:r>
              <a:rPr dirty="0"/>
              <a:t>5  Sequential Multicast performs post-processing</a:t>
            </a:r>
            <a:br>
              <a:rPr dirty="0"/>
            </a:br>
            <a:r>
              <a:rPr dirty="0"/>
              <a:t>6  XML is converted to CSV and uploaded to SFTP</a:t>
            </a:r>
            <a:br>
              <a:rPr dirty="0"/>
            </a:br>
            <a:r>
              <a:rPr dirty="0"/>
              <a:t>7  Notification branch sends email</a:t>
            </a:r>
            <a:br>
              <a:rPr dirty="0"/>
            </a:br>
            <a:r>
              <a:rPr dirty="0"/>
              <a:t>8  Exception Subprocess handles runtime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5257800"/>
            <a:ext cx="114300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61303" y="5330952"/>
            <a:ext cx="103327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257800"/>
            <a:ext cx="141732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3" y="5330952"/>
            <a:ext cx="130759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5257800"/>
            <a:ext cx="114300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5330952"/>
            <a:ext cx="103327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5257800"/>
            <a:ext cx="1325880" cy="384048"/>
          </a:xfrm>
          <a:prstGeom prst="roundRect">
            <a:avLst/>
          </a:prstGeom>
          <a:solidFill>
            <a:srgbClr val="E2EEF7"/>
          </a:solidFill>
          <a:ln>
            <a:solidFill>
              <a:srgbClr val="E2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58984" y="5330952"/>
            <a:ext cx="121615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0C2B4A"/>
                </a:solidFill>
                <a:latin typeface="Aptos"/>
              </a:defRPr>
            </a:pPr>
            <a:r>
              <a:t>FILE + 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5870448"/>
            <a:ext cx="5577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5C6975"/>
                </a:solidFill>
                <a:latin typeface="Aptos"/>
              </a:defRPr>
            </a:pPr>
            <a:r>
              <a:t>The architecture diagram is taken from the Technical Design &amp; Test Documentation (page 3).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0B90B1-C131-FE75-8213-C3AC4D0B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176785"/>
            <a:ext cx="3779520" cy="5023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ed Rectangle 14">
            <a:extLst>
              <a:ext uri="{FF2B5EF4-FFF2-40B4-BE49-F238E27FC236}">
                <a16:creationId xmlns:a16="http://schemas.microsoft.com/office/drawing/2014/main" id="{632F9B6E-E51A-661B-8024-0653F38B5D12}"/>
              </a:ext>
            </a:extLst>
          </p:cNvPr>
          <p:cNvSpPr/>
          <p:nvPr/>
        </p:nvSpPr>
        <p:spPr>
          <a:xfrm>
            <a:off x="10225734" y="5526526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14">
            <a:extLst>
              <a:ext uri="{FF2B5EF4-FFF2-40B4-BE49-F238E27FC236}">
                <a16:creationId xmlns:a16="http://schemas.microsoft.com/office/drawing/2014/main" id="{684567A5-3B9F-CB38-2D80-56D2C4DA8C69}"/>
              </a:ext>
            </a:extLst>
          </p:cNvPr>
          <p:cNvSpPr/>
          <p:nvPr/>
        </p:nvSpPr>
        <p:spPr>
          <a:xfrm>
            <a:off x="10225734" y="4478125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4">
            <a:extLst>
              <a:ext uri="{FF2B5EF4-FFF2-40B4-BE49-F238E27FC236}">
                <a16:creationId xmlns:a16="http://schemas.microsoft.com/office/drawing/2014/main" id="{370F09BA-5D4B-C884-D8DA-00E477FEF2AD}"/>
              </a:ext>
            </a:extLst>
          </p:cNvPr>
          <p:cNvSpPr/>
          <p:nvPr/>
        </p:nvSpPr>
        <p:spPr>
          <a:xfrm>
            <a:off x="10225734" y="3392697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14">
            <a:extLst>
              <a:ext uri="{FF2B5EF4-FFF2-40B4-BE49-F238E27FC236}">
                <a16:creationId xmlns:a16="http://schemas.microsoft.com/office/drawing/2014/main" id="{0B105A3D-D4C3-D561-5987-9D4400528944}"/>
              </a:ext>
            </a:extLst>
          </p:cNvPr>
          <p:cNvSpPr/>
          <p:nvPr/>
        </p:nvSpPr>
        <p:spPr>
          <a:xfrm>
            <a:off x="10221546" y="2324711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4">
            <a:extLst>
              <a:ext uri="{FF2B5EF4-FFF2-40B4-BE49-F238E27FC236}">
                <a16:creationId xmlns:a16="http://schemas.microsoft.com/office/drawing/2014/main" id="{CD9D2464-FA26-6960-F12A-6581D6D09CC3}"/>
              </a:ext>
            </a:extLst>
          </p:cNvPr>
          <p:cNvSpPr/>
          <p:nvPr/>
        </p:nvSpPr>
        <p:spPr>
          <a:xfrm>
            <a:off x="10221546" y="1262270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14">
            <a:extLst>
              <a:ext uri="{FF2B5EF4-FFF2-40B4-BE49-F238E27FC236}">
                <a16:creationId xmlns:a16="http://schemas.microsoft.com/office/drawing/2014/main" id="{14690D15-7E4D-7960-24A8-09E2DFD2C0A5}"/>
              </a:ext>
            </a:extLst>
          </p:cNvPr>
          <p:cNvSpPr/>
          <p:nvPr/>
        </p:nvSpPr>
        <p:spPr>
          <a:xfrm>
            <a:off x="88560" y="5526526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10">
            <a:extLst>
              <a:ext uri="{FF2B5EF4-FFF2-40B4-BE49-F238E27FC236}">
                <a16:creationId xmlns:a16="http://schemas.microsoft.com/office/drawing/2014/main" id="{6FBB4F42-A2DC-91A9-984F-9A84380ACCD1}"/>
              </a:ext>
            </a:extLst>
          </p:cNvPr>
          <p:cNvSpPr/>
          <p:nvPr/>
        </p:nvSpPr>
        <p:spPr>
          <a:xfrm>
            <a:off x="95504" y="1261594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02907E6-4A6C-3565-F3FF-A370DE24D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72" y="1335089"/>
            <a:ext cx="8098349" cy="47459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Main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Actual Cloud Integration iFlow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959" y="1330576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Timer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959" y="1567753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Scheduled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48" y="2328163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959" y="2393225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Request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59" y="2638979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Waits for receiver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04" y="4464299"/>
            <a:ext cx="1886461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48" y="3396231"/>
            <a:ext cx="1879517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4399" y="453602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Message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529" y="4775305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Transforms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959" y="560306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OData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59" y="585910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S/4HANA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0856" y="1335089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Sequential Multicast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3200" y="1572892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Sequential branches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5732" y="2386903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XML to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3200" y="263554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Format conversion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3200" y="3481597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SFTP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3200" y="3723913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CSV upload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7456" y="4807458"/>
            <a:ext cx="2148840" cy="5943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63200" y="4564598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3200" y="4804687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Notification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0856" y="5606668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Exception Subprocess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0856" y="5853181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19" b="0">
                <a:solidFill>
                  <a:srgbClr val="232B34"/>
                </a:solidFill>
                <a:latin typeface="Aptos"/>
              </a:defRPr>
            </a:pPr>
            <a:r>
              <a:rPr dirty="0"/>
              <a:t>Runtime error handling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399" y="3467881"/>
            <a:ext cx="1828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SuccessFactors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399" y="3710197"/>
            <a:ext cx="1828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850" b="0">
                <a:solidFill>
                  <a:srgbClr val="232B34"/>
                </a:solidFill>
                <a:latin typeface="Aptos"/>
              </a:defRPr>
            </a:pPr>
            <a:r>
              <a:rPr dirty="0"/>
              <a:t>Retrieves User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SuccessFactors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OData Query and retrieved employee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32446"/>
            <a:ext cx="146304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239796"/>
                </a:solidFill>
                <a:latin typeface="Aptos"/>
              </a:defRPr>
            </a:pPr>
            <a:r>
              <a:rPr dirty="0"/>
              <a:t>CONNECTION</a:t>
            </a:r>
            <a:r>
              <a:rPr lang="en-US" dirty="0"/>
              <a:t> TAB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122589" y="905679"/>
            <a:ext cx="146304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239796"/>
                </a:solidFill>
                <a:latin typeface="Aptos"/>
              </a:defRPr>
            </a:pPr>
            <a:r>
              <a:rPr dirty="0"/>
              <a:t>PROCESSING</a:t>
            </a:r>
            <a:r>
              <a:rPr lang="en-US" dirty="0"/>
              <a:t> TAB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79120" y="2866999"/>
            <a:ext cx="5303520" cy="157276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053588"/>
            <a:ext cx="49834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72" y="3309620"/>
            <a:ext cx="498348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Operation: Query (GET)</a:t>
            </a:r>
            <a:br>
              <a:rPr dirty="0"/>
            </a:br>
            <a:r>
              <a:rPr dirty="0"/>
              <a:t>Resource Path: User</a:t>
            </a:r>
            <a:br>
              <a:rPr dirty="0"/>
            </a:br>
            <a:r>
              <a:rPr dirty="0"/>
              <a:t>Query: $select=</a:t>
            </a:r>
            <a:r>
              <a:rPr dirty="0" err="1"/>
              <a:t>userid,firstName,lastName,city,country</a:t>
            </a:r>
            <a:br>
              <a:rPr dirty="0"/>
            </a:br>
            <a:r>
              <a:rPr dirty="0"/>
              <a:t>Filter used for the configured employee User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62149"/>
            <a:ext cx="5349240" cy="1572768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058813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FIELDS RETRIEVED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41140"/>
            <a:ext cx="502920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 err="1"/>
              <a:t>userid</a:t>
            </a:r>
            <a:r>
              <a:rPr dirty="0"/>
              <a:t>  •  Employee/User identifier</a:t>
            </a:r>
            <a:br>
              <a:rPr dirty="0"/>
            </a:br>
            <a:r>
              <a:rPr dirty="0" err="1"/>
              <a:t>firstName</a:t>
            </a:r>
            <a:r>
              <a:rPr dirty="0"/>
              <a:t>  •  First name</a:t>
            </a:r>
            <a:br>
              <a:rPr dirty="0"/>
            </a:br>
            <a:r>
              <a:rPr dirty="0" err="1"/>
              <a:t>lastName</a:t>
            </a:r>
            <a:r>
              <a:rPr dirty="0"/>
              <a:t>  •  Last name</a:t>
            </a:r>
            <a:br>
              <a:rPr dirty="0"/>
            </a:br>
            <a:r>
              <a:rPr dirty="0"/>
              <a:t>city  •  Employee city</a:t>
            </a:r>
            <a:br>
              <a:rPr dirty="0"/>
            </a:br>
            <a:r>
              <a:rPr dirty="0"/>
              <a:t>country  •  Employee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72784"/>
            <a:ext cx="8503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t>Actual retrieved payload evidence from the Technical Design &amp; Test Documentation (page 5).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0773AB-85F5-9F07-B54A-946F72B4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09" y="4551248"/>
            <a:ext cx="8048867" cy="19181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D5479D9-B074-0D5C-2499-6033823C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223"/>
          <a:stretch>
            <a:fillRect/>
          </a:stretch>
        </p:blipFill>
        <p:spPr>
          <a:xfrm>
            <a:off x="579120" y="1138656"/>
            <a:ext cx="2979929" cy="15795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9CDCA7-B4C4-ABBC-2FF8-FF405DB7F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429"/>
          <a:stretch>
            <a:fillRect/>
          </a:stretch>
        </p:blipFill>
        <p:spPr>
          <a:xfrm>
            <a:off x="4122589" y="1138656"/>
            <a:ext cx="7334504" cy="1579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Message Mapping &amp; S/4HANA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Source-to-target transformation and OData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70432"/>
            <a:ext cx="5303520" cy="11430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49834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0C2B4A"/>
                </a:solidFill>
                <a:latin typeface="Aptos"/>
              </a:defRPr>
            </a:pPr>
            <a:r>
              <a:rPr lang="en-IN" dirty="0"/>
              <a:t>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94947"/>
            <a:ext cx="4983480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32B34"/>
                </a:solidFill>
                <a:latin typeface="Aptos"/>
              </a:defRPr>
            </a:pPr>
            <a:r>
              <a:rPr lang="en-US" dirty="0"/>
              <a:t>Request Reply sends the mapped employee payload to the configured OData service. A successful response was verified in the Cloud Integration Message Monitor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303520" cy="1874519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693460"/>
            <a:ext cx="49834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MAPPING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8469"/>
            <a:ext cx="4983480" cy="13075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Mandt = hardcoded 500</a:t>
            </a:r>
            <a:br>
              <a:rPr dirty="0"/>
            </a:br>
            <a:r>
              <a:rPr dirty="0"/>
              <a:t>Participantid = </a:t>
            </a:r>
            <a:r>
              <a:rPr dirty="0" err="1"/>
              <a:t>firstName</a:t>
            </a:r>
            <a:r>
              <a:rPr dirty="0"/>
              <a:t> + ' ' + </a:t>
            </a:r>
            <a:r>
              <a:rPr dirty="0" err="1"/>
              <a:t>lastName</a:t>
            </a:r>
            <a:br>
              <a:rPr dirty="0"/>
            </a:br>
            <a:r>
              <a:rPr dirty="0" err="1"/>
              <a:t>Sfempname</a:t>
            </a:r>
            <a:r>
              <a:rPr dirty="0"/>
              <a:t> = </a:t>
            </a:r>
            <a:r>
              <a:rPr dirty="0" err="1"/>
              <a:t>firstName</a:t>
            </a:r>
            <a:r>
              <a:rPr dirty="0"/>
              <a:t> + ' ' + </a:t>
            </a:r>
            <a:r>
              <a:rPr dirty="0" err="1"/>
              <a:t>lastName</a:t>
            </a:r>
            <a:br>
              <a:rPr dirty="0"/>
            </a:br>
            <a:r>
              <a:rPr dirty="0"/>
              <a:t>City = direct mapping</a:t>
            </a:r>
            <a:br>
              <a:rPr dirty="0"/>
            </a:br>
            <a:r>
              <a:rPr dirty="0"/>
              <a:t>Country = direct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6276933"/>
            <a:ext cx="48463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rPr dirty="0"/>
              <a:t>S/4HANA OData connection configuration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9E3FB2-603B-A5DF-C2ED-8C056EAC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70" y="1035084"/>
            <a:ext cx="5534311" cy="223513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0F3218-7CE3-6A04-EA57-3CA43909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405"/>
          <a:stretch>
            <a:fillRect/>
          </a:stretch>
        </p:blipFill>
        <p:spPr>
          <a:xfrm>
            <a:off x="6217921" y="4616206"/>
            <a:ext cx="5303520" cy="15734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A7EA34-A27D-6A30-ADCB-12E2E9409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360"/>
          <a:stretch>
            <a:fillRect/>
          </a:stretch>
        </p:blipFill>
        <p:spPr>
          <a:xfrm>
            <a:off x="439771" y="3370806"/>
            <a:ext cx="5534310" cy="281883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BD9AD2B-475D-B577-DF19-55EFAF878296}"/>
              </a:ext>
            </a:extLst>
          </p:cNvPr>
          <p:cNvSpPr txBox="1"/>
          <p:nvPr/>
        </p:nvSpPr>
        <p:spPr>
          <a:xfrm>
            <a:off x="647191" y="6282784"/>
            <a:ext cx="4846320" cy="1831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0">
                <a:solidFill>
                  <a:srgbClr val="5C6975"/>
                </a:solidFill>
                <a:latin typeface="Aptos"/>
              </a:defRPr>
            </a:pPr>
            <a:r>
              <a:rPr dirty="0"/>
              <a:t>S/4HANA OData </a:t>
            </a:r>
            <a:r>
              <a:rPr lang="en-US" dirty="0"/>
              <a:t>processing</a:t>
            </a:r>
            <a:r>
              <a:rPr dirty="0"/>
              <a:t>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XML to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Target response followed by file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234934"/>
            <a:ext cx="5257800" cy="10058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560" y="538581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CSV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" y="5627866"/>
            <a:ext cx="493776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80" b="0">
                <a:solidFill>
                  <a:srgbClr val="232B34"/>
                </a:solidFill>
                <a:latin typeface="Aptos"/>
              </a:defRPr>
            </a:pPr>
            <a:r>
              <a:rPr dirty="0"/>
              <a:t>Generated fields include: Mandt, Participantid, Country, </a:t>
            </a:r>
            <a:r>
              <a:rPr dirty="0" err="1"/>
              <a:t>Sfempname</a:t>
            </a:r>
            <a:r>
              <a:rPr dirty="0"/>
              <a:t>, City and </a:t>
            </a:r>
            <a:r>
              <a:rPr dirty="0" err="1"/>
              <a:t>Createdon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BD4EC6-7495-DEBE-BA4A-E73D7EA1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0274" b="13818"/>
          <a:stretch>
            <a:fillRect/>
          </a:stretch>
        </p:blipFill>
        <p:spPr>
          <a:xfrm>
            <a:off x="6338412" y="3993545"/>
            <a:ext cx="5163216" cy="22472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CE01C6-04FB-B5A4-B51B-982250E7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70" t="24099" r="40129" b="46502"/>
          <a:stretch>
            <a:fillRect/>
          </a:stretch>
        </p:blipFill>
        <p:spPr>
          <a:xfrm>
            <a:off x="438912" y="3373134"/>
            <a:ext cx="4941485" cy="17407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A133D5-8FD5-A8F1-2E29-6D0DFCA719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43" t="17734" b="49012"/>
          <a:stretch>
            <a:fillRect/>
          </a:stretch>
        </p:blipFill>
        <p:spPr>
          <a:xfrm>
            <a:off x="630222" y="1192732"/>
            <a:ext cx="10931250" cy="20447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79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rPr dirty="0"/>
              <a:t>SFTP, Mail &amp;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510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rPr dirty="0"/>
              <a:t>Output delivery plus success/failure notification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995291"/>
            <a:ext cx="1332653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239796"/>
                </a:solidFill>
                <a:latin typeface="Aptos"/>
              </a:defRPr>
            </a:pPr>
            <a:r>
              <a:rPr dirty="0"/>
              <a:t>SFTP</a:t>
            </a:r>
            <a:r>
              <a:rPr lang="en-US" dirty="0"/>
              <a:t> Configuration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11480" y="4091945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B13737"/>
                </a:solidFill>
                <a:latin typeface="Aptos"/>
              </a:defRPr>
            </a:pPr>
            <a:r>
              <a:rPr dirty="0"/>
              <a:t>EXCEPTION SUBPROCESS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6336453"/>
            <a:ext cx="6400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0C2B4A"/>
                </a:solidFill>
                <a:latin typeface="Aptos"/>
              </a:defRPr>
            </a:pPr>
            <a:r>
              <a:rPr dirty="0"/>
              <a:t>The project verifies CSV upload, success email, failure email and runtime error routing.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46BA32-F495-9C09-61E3-FFB79AEC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17"/>
          <a:stretch>
            <a:fillRect/>
          </a:stretch>
        </p:blipFill>
        <p:spPr>
          <a:xfrm>
            <a:off x="438912" y="1203003"/>
            <a:ext cx="4642781" cy="2815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3284E4-85E1-7555-F96A-0286F4CF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971"/>
          <a:stretch>
            <a:fillRect/>
          </a:stretch>
        </p:blipFill>
        <p:spPr>
          <a:xfrm>
            <a:off x="5400193" y="965698"/>
            <a:ext cx="6349846" cy="1082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207A41-5C71-BAA5-9044-1F23C233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996"/>
          <a:stretch>
            <a:fillRect/>
          </a:stretch>
        </p:blipFill>
        <p:spPr>
          <a:xfrm>
            <a:off x="5400193" y="2225644"/>
            <a:ext cx="6349847" cy="1707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1D51D3-CC89-5533-423D-EAE8939F18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0" r="2132"/>
          <a:stretch>
            <a:fillRect/>
          </a:stretch>
        </p:blipFill>
        <p:spPr>
          <a:xfrm>
            <a:off x="5272947" y="4110408"/>
            <a:ext cx="6400800" cy="2221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535FCF-61E8-6097-20E0-5039CA2716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100" t="56253" r="27761" b="2700"/>
          <a:stretch>
            <a:fillRect/>
          </a:stretch>
        </p:blipFill>
        <p:spPr>
          <a:xfrm>
            <a:off x="438912" y="4310894"/>
            <a:ext cx="4642781" cy="2025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Testing Strategy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Eight documented test cases — all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72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Actual Result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SuccessFactors data retrieval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Data retrieved successfully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Send data to S/4HANA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Request processed successfully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XML → CSV conversion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CSV generated successfully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CSV upload to SFTP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rPr dirty="0"/>
                        <a:t>File uploaded successfully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 notification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Email received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Invalid SFTP credential/config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error generated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Duplicate Participant 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S/4HANA error received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72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TC-08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Failure email received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69080" y="5468112"/>
            <a:ext cx="402336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23944" y="5541264"/>
            <a:ext cx="391363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2B824E"/>
                </a:solidFill>
                <a:latin typeface="Aptos"/>
              </a:defRPr>
            </a:pPr>
            <a:r>
              <a:t>OVERALL RESULT: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61888"/>
            <a:ext cx="104241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20" b="0">
                <a:solidFill>
                  <a:srgbClr val="5C6975"/>
                </a:solidFill>
                <a:latin typeface="Aptos"/>
              </a:defRPr>
            </a:pPr>
            <a:r>
              <a:t>Positive testing confirmed the normal flow; negative testing intentionally triggered SFTP and duplicate-ID errors to verify the Exception Subprocess and failure notification.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Agile Scrum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Two sprints covering development, testing and finalization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4069080" cy="27889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362456"/>
            <a:ext cx="3749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1 — INTEGRATION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19072"/>
            <a:ext cx="3749040" cy="22219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Requirement analysis</a:t>
            </a:r>
            <a:br/>
            <a:r>
              <a:t>Integration architecture</a:t>
            </a:r>
            <a:br/>
            <a:r>
              <a:t>SuccessFactors configuration</a:t>
            </a:r>
            <a:br/>
            <a:r>
              <a:t>S/4HANA OData configuration</a:t>
            </a:r>
            <a:br/>
            <a:r>
              <a:t>Message Mapping</a:t>
            </a:r>
            <a:br/>
            <a:r>
              <a:t>XML to CSV</a:t>
            </a:r>
            <a:br/>
            <a:r>
              <a:t>SFTP + Mail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234440"/>
            <a:ext cx="4434840" cy="27889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36245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2 — TESTING &amp; FINALIZATION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719072"/>
            <a:ext cx="4114800" cy="22219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Exception Subprocess</a:t>
            </a:r>
            <a:br/>
            <a:r>
              <a:t>Failure email</a:t>
            </a:r>
            <a:br/>
            <a:r>
              <a:t>Successful E2E test</a:t>
            </a:r>
            <a:br/>
            <a:r>
              <a:t>SFTP failure test</a:t>
            </a:r>
            <a:br/>
            <a:r>
              <a:t>Duplicate Participant ID test</a:t>
            </a:r>
            <a:br/>
            <a:r>
              <a:t>Documentation + Agile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315968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0C2B4A"/>
                </a:solidFill>
                <a:latin typeface="Aptos"/>
              </a:defRPr>
            </a:pPr>
            <a:r>
              <a:t>PRODUCT BACKLOG SNAPSHOT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88920" y="4645152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4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Requirements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Core iFlow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/ Mail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Documentation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818120" y="4645152"/>
            <a:ext cx="3703320" cy="14173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4773168"/>
            <a:ext cx="3383279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SPRINT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129784"/>
            <a:ext cx="3383279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Both planned sprints were completed. The core integration was built in Sprint 1 and validated with positive/negative scenarios in Sprint 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0C17131-CF54-7E9B-F09E-2D288ED3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113620"/>
            <a:ext cx="14478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Sprint Progress, Retrospective &amp; Burndown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What improved and how remaining work reduced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1658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0C2B4A"/>
                </a:solidFill>
                <a:latin typeface="Aptos"/>
              </a:defRPr>
            </a:pPr>
            <a:r>
              <a:t>PROGRESS BY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70" y="1513163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58570" y="1528995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527048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568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Architecture &amp;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8570" y="1958171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58570" y="1947672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947672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Integration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70" y="2319867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58570" y="2336800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2368296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98064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2743708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67712" y="2748026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2788920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18688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8570" y="3177794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67712" y="3168650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3209544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39312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70" y="3598418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67712" y="3614251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3630168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5993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50" b="0">
                <a:solidFill>
                  <a:srgbClr val="232B34"/>
                </a:solidFill>
                <a:latin typeface="Aptos"/>
              </a:defRPr>
            </a:pPr>
            <a:r>
              <a:t>Agile Artifacts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8570" y="4009475"/>
            <a:ext cx="2148840" cy="201168"/>
          </a:xfrm>
          <a:prstGeom prst="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58570" y="4009475"/>
            <a:ext cx="2148840" cy="201168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4050792"/>
            <a:ext cx="41148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239796"/>
                </a:solidFill>
                <a:latin typeface="Aptos"/>
              </a:defRPr>
            </a:pPr>
            <a:r>
              <a:t>100%</a:t>
            </a:r>
          </a:p>
        </p:txBody>
      </p:sp>
      <p:pic>
        <p:nvPicPr>
          <p:cNvPr id="35" name="Picture 34" descr="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143000"/>
            <a:ext cx="6263640" cy="352044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94360" y="4617720"/>
            <a:ext cx="5257800" cy="12344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745736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WHAT WENT WELL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02352"/>
            <a:ext cx="49377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30" b="0">
                <a:solidFill>
                  <a:srgbClr val="232B34"/>
                </a:solidFill>
                <a:latin typeface="Aptos"/>
              </a:defRPr>
            </a:pPr>
            <a:r>
              <a:t>Connectivity established • Mapping worked • CSV/SFTP verified • Exception handling tested • Success/failure emails verified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617720"/>
            <a:ext cx="5440680" cy="123444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4745736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CHALLENGES + IMPROVEMENTS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102352"/>
            <a:ext cx="512064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10" b="0">
                <a:solidFill>
                  <a:srgbClr val="232B34"/>
                </a:solidFill>
                <a:latin typeface="Aptos"/>
              </a:defRPr>
            </a:pPr>
            <a:r>
              <a:t>Verify target-system constraints early • Keep positive/negative tests separate • Capture monitoring evidence • Update documentation during development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Definition of Done &amp; Agile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How completion was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94960" cy="324612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5074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5074920" cy="2679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✓ Configuration completed</a:t>
            </a:r>
            <a:br/>
            <a:r>
              <a:t>✓ Connectivity verified</a:t>
            </a:r>
            <a:br/>
            <a:r>
              <a:t>✓ Integration flow validated</a:t>
            </a:r>
            <a:br/>
            <a:r>
              <a:t>✓ Expected output generated</a:t>
            </a:r>
            <a:br/>
            <a:r>
              <a:t>✓ Error scenario tested where applicable</a:t>
            </a:r>
            <a:br/>
            <a:r>
              <a:t>✓ Evidence captured</a:t>
            </a:r>
            <a:br/>
            <a:r>
              <a:t>✓ Documentation updated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3035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54864" marR="36576" marT="27432" marB="27432">
                    <a:solidFill>
                      <a:srgbClr val="0C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Planned Sprints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 Sprints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Core Integration Flow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Positive Test Scenario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SFTP Failure Scenario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Duplicate ID Scenario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Exception Handling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Success Email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Failure Email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Verified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" y="4892040"/>
            <a:ext cx="301752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965192"/>
            <a:ext cx="290779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PROJECT DEVELOPMENT: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892040"/>
            <a:ext cx="224028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3" y="4965192"/>
            <a:ext cx="213055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TESTING: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892040"/>
            <a:ext cx="2880360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84264" y="4965192"/>
            <a:ext cx="277063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B824E"/>
                </a:solidFill>
                <a:latin typeface="Aptos"/>
              </a:defRPr>
            </a:pPr>
            <a:r>
              <a:t>EXCEPTION HANDLING: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4892040"/>
            <a:ext cx="1874519" cy="384048"/>
          </a:xfrm>
          <a:prstGeom prst="roundRect">
            <a:avLst/>
          </a:prstGeom>
          <a:solidFill>
            <a:srgbClr val="E2F2E8"/>
          </a:solidFill>
          <a:ln>
            <a:solidFill>
              <a:srgbClr val="E2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93224" y="4965192"/>
            <a:ext cx="1764791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2B824E"/>
                </a:solidFill>
                <a:latin typeface="Aptos"/>
              </a:defRPr>
            </a:pPr>
            <a:r>
              <a:t>DOCUMENTATION: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>
                <a:solidFill>
                  <a:srgbClr val="5C6975"/>
                </a:solidFill>
                <a:latin typeface="Aptos"/>
              </a:defRPr>
            </a:pPr>
            <a:r>
              <a:t>The Agile file defines a task as Done only after configuration, testing, verification, evidence and documentation are complete.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9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600" b="1">
                <a:solidFill>
                  <a:srgbClr val="0C2B4A"/>
                </a:solidFill>
                <a:latin typeface="Aptos"/>
              </a:defRPr>
            </a:pPr>
            <a:r>
              <a:t>Final Deliverables, GitHub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5C6975"/>
                </a:solidFill>
                <a:latin typeface="Aptos"/>
              </a:defRPr>
            </a:pPr>
            <a:r>
              <a:t>Project handover and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100" b="1">
                <a:solidFill>
                  <a:srgbClr val="23979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166360" cy="34290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5185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FINAL PROJECT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0945"/>
            <a:ext cx="4846320" cy="2862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rPr dirty="0"/>
              <a:t>• Technical Design &amp; Test Documentation</a:t>
            </a:r>
            <a:br>
              <a:rPr dirty="0"/>
            </a:br>
            <a:r>
              <a:rPr dirty="0"/>
              <a:t>• Agile Project Artifacts</a:t>
            </a:r>
            <a:br>
              <a:rPr dirty="0"/>
            </a:br>
            <a:r>
              <a:rPr dirty="0"/>
              <a:t>• Integration Flow artifact ZIP</a:t>
            </a:r>
            <a:br>
              <a:rPr dirty="0"/>
            </a:br>
            <a:r>
              <a:rPr dirty="0"/>
              <a:t>• Configuration screenshots</a:t>
            </a:r>
            <a:br>
              <a:rPr dirty="0"/>
            </a:br>
            <a:r>
              <a:rPr dirty="0"/>
              <a:t>• Testing evidence</a:t>
            </a:r>
            <a:br>
              <a:rPr dirty="0"/>
            </a:br>
            <a:r>
              <a:rPr dirty="0"/>
              <a:t>• SFTP / SuccessFactors / S/4HANA evidence</a:t>
            </a:r>
            <a:br>
              <a:rPr dirty="0"/>
            </a:br>
            <a:r>
              <a:rPr dirty="0"/>
              <a:t>• Exception + email evidence</a:t>
            </a:r>
            <a:br>
              <a:rPr dirty="0"/>
            </a:br>
            <a:r>
              <a:rPr dirty="0"/>
              <a:t>• CHANGELOG + README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43000"/>
            <a:ext cx="5440680" cy="196596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55852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GITHUB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5120640" cy="13990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32B34"/>
                </a:solidFill>
                <a:latin typeface="Aptos"/>
              </a:defRPr>
            </a:pPr>
            <a:r>
              <a:t>Repository:</a:t>
            </a:r>
            <a:br/>
            <a:r>
              <a:t>github.com/iskrishnakantpal/Employee-Data-Synchronization-using-SAP-Cloud-Integration</a:t>
            </a:r>
            <a:br/>
            <a:br/>
            <a:r>
              <a:t>Release: v1.0.0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177540"/>
            <a:ext cx="4114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F70A9"/>
                </a:solidFill>
                <a:latin typeface="Aptos"/>
              </a:defRPr>
            </a:pPr>
            <a:r>
              <a:rPr dirty="0">
                <a:hlinkClick r:id="rId2"/>
              </a:rPr>
              <a:t>Open GitHub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675887"/>
            <a:ext cx="5440680" cy="2057400"/>
          </a:xfrm>
          <a:prstGeom prst="roundRect">
            <a:avLst/>
          </a:prstGeom>
          <a:solidFill>
            <a:srgbClr val="F1F6FA"/>
          </a:solidFill>
          <a:ln w="12700">
            <a:solidFill>
              <a:srgbClr val="C9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803903"/>
            <a:ext cx="51206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0C2B4A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5120640" cy="1490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32B34"/>
                </a:solidFill>
                <a:latin typeface="Aptos"/>
              </a:defRPr>
            </a:pPr>
            <a:r>
              <a:rPr dirty="0"/>
              <a:t>The solution successfully retrieves employee data from SuccessFactors, transforms it, sends it to S/4HANA, converts the processed data to CSV, uploads it to SFTP, and handles success/failure notifications. Positive and negative scenarios were tested successfully.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5989320"/>
            <a:ext cx="4389120" cy="384048"/>
          </a:xfrm>
          <a:prstGeom prst="roundRect">
            <a:avLst/>
          </a:prstGeom>
          <a:solidFill>
            <a:srgbClr val="0C2B4A"/>
          </a:solidFill>
          <a:ln>
            <a:solidFill>
              <a:srgbClr val="0C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41063" y="6062472"/>
            <a:ext cx="4279392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v1.0.0  •  FINAL RELEASE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C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6615684"/>
            <a:ext cx="7498079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  <a:latin typeface="Aptos"/>
              </a:defRPr>
            </a:pPr>
            <a:r>
              <a:t>SAP BTP Integration Development  •  Employee Data Synchronization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615684"/>
            <a:ext cx="324612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750" b="0">
                <a:solidFill>
                  <a:srgbClr val="FFFFFF"/>
                </a:solidFill>
                <a:latin typeface="Aptos"/>
              </a:defRPr>
            </a:pPr>
            <a:r>
              <a:t>Krishnakant Pal  |  P2012786192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1271</Words>
  <Application>Microsoft Office PowerPoint</Application>
  <PresentationFormat>Widescreen</PresentationFormat>
  <Paragraphs>252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 Kant Pal</cp:lastModifiedBy>
  <cp:revision>3</cp:revision>
  <dcterms:created xsi:type="dcterms:W3CDTF">2013-01-27T09:14:16Z</dcterms:created>
  <dcterms:modified xsi:type="dcterms:W3CDTF">2026-08-17T05:51:20Z</dcterms:modified>
  <cp:category/>
</cp:coreProperties>
</file>